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0C1A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548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4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1600200" y="5669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KRAEFEGG M.O.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600200" y="10424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9B"/>
                </a:solidFill>
              </a:rPr>
              <a:t>Engineering Development &amp; Project Finance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0160">
            <a:solidFill>
              <a:srgbClr val="1E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de Projetos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Engenharia · Sustentabilidade · Tecnologia &amp; Automação Industrial por IA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2880360"/>
            <a:ext cx="1554480" cy="141732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880360"/>
            <a:ext cx="1554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365760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Projeto Industrial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630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H₂ Verde + SWRO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48256" y="2880360"/>
            <a:ext cx="1554480" cy="141732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48256" y="2880360"/>
            <a:ext cx="1554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48256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2048256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Plataforma SCADA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048256" y="3630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AI-Controlled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0752" y="2880360"/>
            <a:ext cx="1554480" cy="141732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30752" y="2880360"/>
            <a:ext cx="1554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30752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3730752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Linguagens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730752" y="3630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de programação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13248" y="2880360"/>
            <a:ext cx="1554480" cy="141732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13248" y="2880360"/>
            <a:ext cx="1554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13248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5413248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13248" y="3630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100% passando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095744" y="2880360"/>
            <a:ext cx="1554480" cy="141732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95744" y="2880360"/>
            <a:ext cx="15544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95744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7095744" y="34198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Dependências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95744" y="3630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Python stdlib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B"/>
                </a:solidFill>
              </a:rPr>
              <a:t>Developer: Railson  ·  Nordeste, Brasil  ·  Março 2026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C9A7"/>
                </a:solidFill>
              </a:rPr>
              <a:t>CONTEÚDO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neste portfólio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1078992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AquaH₂ 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B"/>
                </a:solidFill>
              </a:rPr>
              <a:t>Projeto industrial — H₂ verde + dessalinização SWRO · R$ 380M · Nordeste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114800" cy="1078992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24128"/>
            <a:ext cx="54864" cy="10789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Pré-Viabilidade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82896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B"/>
                </a:solidFill>
              </a:rPr>
              <a:t>Estudo técnico-financeiro · UNIDO COMFAR III · Direcionado à Fortescue Future Industries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58568"/>
            <a:ext cx="4114800" cy="1078992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5856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" y="2532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AI-SCADA Platform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" y="2807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B"/>
                </a:solidFill>
              </a:rPr>
              <a:t>Plataforma de controle por IA · Python · 10 telas · Zero dependências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58568"/>
            <a:ext cx="4114800" cy="1078992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58568"/>
            <a:ext cx="548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2532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82896" y="2807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B"/>
                </a:solidFill>
              </a:rPr>
              <a:t>PID · Z-score · Regressão linear · ESD SIL-2 · Chat contextual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4114800" cy="1078992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93008"/>
            <a:ext cx="54864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IoT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3776" y="4041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B"/>
                </a:solidFill>
              </a:rPr>
              <a:t>Arquitetura híbrida WiFi6 + Ethernet · MODBUS · OPC-UA · MQTT · 39 nós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493008"/>
            <a:ext cx="4114800" cy="1078992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93008"/>
            <a:ext cx="54864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82896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Website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82896" y="4041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9B"/>
                </a:solidFill>
              </a:rPr>
              <a:t>Repositório open source · GitHub Pages · Portfólio público online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C9A7"/>
                </a:solidFill>
              </a:rPr>
              <a:t>PROJETO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AquaH₂ Hub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</a:rPr>
              <a:t>Hidrogênio Verde + Dessalinização SWRO · Nordeste do Brasil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"/>
            <a:ext cx="2651760" cy="1024128"/>
          </a:xfrm>
          <a:prstGeom prst="rect">
            <a:avLst/>
          </a:prstGeom>
          <a:solidFill>
            <a:srgbClr val="0B132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228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Sumário do Projeto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27648" y="502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Localização: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502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Nordeste do Brasil (RN/CE)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27648" y="804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Capacidade: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0" y="804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 MW → 500 MW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27648" y="1106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H₂ produção: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0" y="1106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1.800 t/ano (Fase 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27648" y="1408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Água SWRO: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1408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5.000 m³/dia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27648" y="1709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CAPEX Fase 1: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1709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R$ 380 milhões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27648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TIR (developer):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18–24% a.a.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261872"/>
            <a:ext cx="2651760" cy="292608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261872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325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1691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28 milhões sem água no Semiárido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Escassez crônica no Nordeste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Dependência de combustíveis fósseis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Europa busca H₂ verde para 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173736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28 milhões sem água no Semiárido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" y="2212848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Escassez crônica no Nordeste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" y="2688336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2642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Dependência de combustíveis fósseis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" y="3163824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Europa busca H₂ verde para 2030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1261872"/>
            <a:ext cx="2651760" cy="292608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1261872"/>
            <a:ext cx="26517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1325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1691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Eletrolisador PEM 50 MW offshore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SWRO 5.000 m³/dia integrado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NH₃ verde para exportação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Receita dual: H₂ + água potável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10128" y="1737360"/>
            <a:ext cx="54864" cy="5486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985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Eletrolisador PEM 50 MW offshore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10128" y="2212848"/>
            <a:ext cx="54864" cy="5486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9856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SWRO 5.000 m³/dia integrado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10128" y="2688336"/>
            <a:ext cx="54864" cy="5486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9856" y="2642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NH₃ verde para exportação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10128" y="3163824"/>
            <a:ext cx="54864" cy="5486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9856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Receita dual: H₂ + água potável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1261872"/>
            <a:ext cx="2651760" cy="2926080"/>
          </a:xfrm>
          <a:prstGeom prst="rect">
            <a:avLst/>
          </a:prstGeom>
          <a:solidFill>
            <a:srgbClr val="0B1320"/>
          </a:solidFill>
          <a:ln w="10160">
            <a:solidFill>
              <a:srgbClr val="1E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1261872"/>
            <a:ext cx="26517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1325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72200" y="1691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Única integração H₂ + água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Nordeste: melhor recurso do mundo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First-mover no mercado BR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ESG + impacto social real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44768" y="1737360"/>
            <a:ext cx="54864" cy="54864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Única integração H₂ + água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44768" y="2212848"/>
            <a:ext cx="54864" cy="54864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Nordeste: melhor recurso do mundo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44768" y="2688336"/>
            <a:ext cx="54864" cy="54864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26426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First-mover no mercado BR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44768" y="3163824"/>
            <a:ext cx="54864" cy="54864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ESG + impacto social real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</a:rPr>
              <a:t>VIABILIDADE FINANCEIRA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Retorno — AquaH₂ Hub Fase 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920240" cy="1097280"/>
          </a:xfrm>
          <a:prstGeom prst="rect">
            <a:avLst/>
          </a:prstGeom>
          <a:solidFill>
            <a:srgbClr val="0B132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CAPEX Fase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R$ 380M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Solar + PEM + SWRO + BESS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87552"/>
            <a:ext cx="1920240" cy="1097280"/>
          </a:xfrm>
          <a:prstGeom prst="rect">
            <a:avLst/>
          </a:prstGeom>
          <a:solidFill>
            <a:srgbClr val="0B132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87552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TIR (developer)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243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Modelo de venda do ativo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987552"/>
            <a:ext cx="1920240" cy="1097280"/>
          </a:xfrm>
          <a:prstGeom prst="rect">
            <a:avLst/>
          </a:prstGeom>
          <a:solidFill>
            <a:srgbClr val="0B1320"/>
          </a:solidFill>
          <a:ln w="1905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87552"/>
            <a:ext cx="54864" cy="10972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VPL (12%)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243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R$ 280M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Horizonte 20 anos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987552"/>
            <a:ext cx="1920240" cy="1097280"/>
          </a:xfrm>
          <a:prstGeom prst="rect">
            <a:avLst/>
          </a:prstGeom>
          <a:solidFill>
            <a:srgbClr val="0B132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987552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789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Payback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1243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anos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12280" y="1554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Operação plena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Duais — Ano 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Exportação NH₃ verde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R$ 62M/ano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44368"/>
            <a:ext cx="4206240" cy="182880"/>
          </a:xfrm>
          <a:prstGeom prst="rect">
            <a:avLst/>
          </a:prstGeom>
          <a:solidFill>
            <a:srgbClr val="0B132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944368"/>
            <a:ext cx="3280867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19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Venda de água municipal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3319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7DD2"/>
                </a:solidFill>
              </a:rPr>
              <a:t>R$ 18M/ano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4206240" cy="182880"/>
          </a:xfrm>
          <a:prstGeom prst="rect">
            <a:avLst/>
          </a:prstGeom>
          <a:solidFill>
            <a:srgbClr val="0B132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66160"/>
            <a:ext cx="967435" cy="1828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41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Créditos de carbono (Verra)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39410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R$ 8M/ano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87952"/>
            <a:ext cx="4206240" cy="182880"/>
          </a:xfrm>
          <a:prstGeom prst="rect">
            <a:avLst/>
          </a:prstGeom>
          <a:solidFill>
            <a:srgbClr val="0B132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187952"/>
            <a:ext cx="420624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Financiamento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0" y="2697480"/>
            <a:ext cx="3840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2697480"/>
            <a:ext cx="4572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2734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BNDES Finem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27340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50%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38928" y="29169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R$ 190M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0" y="3246120"/>
            <a:ext cx="3840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3246120"/>
            <a:ext cx="45720" cy="43891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38928" y="3282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BID Invest / KfW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20%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38928" y="34655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R$ 76M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0" y="3794760"/>
            <a:ext cx="3840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3794760"/>
            <a:ext cx="457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Equity estratégico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38313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20%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38928" y="40142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R$ 76M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029200" y="4343400"/>
            <a:ext cx="3840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0" y="4343400"/>
            <a:ext cx="457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38928" y="4379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Kraefegg M.O.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0" y="4379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10%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38928" y="45628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R$ 38M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2D7DD2"/>
                </a:solidFill>
              </a:rPr>
              <a:t>PROJETO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Pré-Viabilidade Técnico-Financeira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B"/>
                </a:solidFill>
              </a:rPr>
              <a:t>Documento formal · Normas UNIDO COMFAR III · ISO 50001 · IEC 62443 · PMI PMBOK 7ª 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2194560"/>
          </a:xfrm>
          <a:prstGeom prst="rect">
            <a:avLst/>
          </a:prstGeom>
          <a:solidFill>
            <a:srgbClr val="0B1320"/>
          </a:solidFill>
          <a:ln w="1524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D2"/>
                </a:solidFill>
              </a:rPr>
              <a:t>Documento KRG-2026-AQH2-001-PFS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Versão: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Rev. 0 — Emissão inicial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Elaboração: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1828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Kraefegg M.O. / Railson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Destinatário: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Fortescue Future Industries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Seções: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3774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+ Apêndice técnico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Classificação: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2651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Formato: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54480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Word DOCX profissional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Seções do Estudo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81328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10912" y="1517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Executive Summary + KPIs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066544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1031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Identificação do Projeto (SPE)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6883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2688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Análise de Mercado Global H₂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236976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32735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Análise Técnica + Especificações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822192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38587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3858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Ambiental + Licenciamento (IBAMA)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12280" y="1481328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7144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59752" y="1517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Análise Financeira completa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12280" y="2066544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67144" y="21031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59752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Matriz de Riscos (ISO 31000)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12280" y="2651760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6883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59752" y="2688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Roadmap de Execução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12280" y="3236976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67144" y="32735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09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59752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Go-to-Market + Compradores-alvo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3822192"/>
            <a:ext cx="2011680" cy="493776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67144" y="38587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DD2"/>
                </a:solidFill>
              </a:rPr>
              <a:t>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59752" y="3858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Conclusões + Próximos Passos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0B132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3520440"/>
            <a:ext cx="54864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Comprador-alvo primário: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0" y="3593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Fortescue Future Industries (FFI)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064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</a:rPr>
              <a:t>FFI tem meta de 15 Mtpa de H₂ verde até 2030, presença ativa no Brasil (CE/RN) e mandato de projetos com impacto social. O AquaH₂ Hub é fit estratégico perfeito.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59E0B"/>
                </a:solidFill>
              </a:rPr>
              <a:t>PROJETO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AquaH₂ AI-SCADA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B"/>
                </a:solidFill>
              </a:rPr>
              <a:t>Supervisão · Controle · Automação por IA · Tempo Real · Zero Dependências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Telas Operacionais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15544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48256" y="1444752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8256" y="1444752"/>
            <a:ext cx="1554480" cy="457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Diagrama P&amp;ID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0752" y="1444752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1444752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Eletrolisador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13248" y="1444752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3248" y="1444752"/>
            <a:ext cx="1554480" cy="457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SWRO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95744" y="1444752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5744" y="1444752"/>
            <a:ext cx="1554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Energia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9424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249424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3591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H₂/NH₃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48256" y="2249424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48256" y="2249424"/>
            <a:ext cx="1554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1408" y="23591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Alarmes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30752" y="2249424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0752" y="2249424"/>
            <a:ext cx="15544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23591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Rede IoT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13248" y="2249424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13248" y="2249424"/>
            <a:ext cx="1554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3591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Segurança ESD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95744" y="2249424"/>
            <a:ext cx="1554480" cy="6583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95744" y="2249424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8896" y="23591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IA Operacional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1638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456432"/>
            <a:ext cx="1229868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456432"/>
            <a:ext cx="1138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Python stdlib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687068" y="3456432"/>
            <a:ext cx="1540764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2788" y="3456432"/>
            <a:ext cx="144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WebSocket RFC6455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19272" y="3456432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34564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SQLite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96512" y="3456432"/>
            <a:ext cx="996696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2232" y="345643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Chart.js 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84648" y="3456432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30368" y="34564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SVG P&amp;ID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17336" y="3456432"/>
            <a:ext cx="1307592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34564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PID Controller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516368" y="3456432"/>
            <a:ext cx="996696" cy="256032"/>
          </a:xfrm>
          <a:prstGeom prst="roundRect">
            <a:avLst>
              <a:gd name="adj" fmla="val 14286"/>
            </a:avLst>
          </a:prstGeom>
          <a:solidFill>
            <a:srgbClr val="0B132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345643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Z-score AI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3822192"/>
            <a:ext cx="8412480" cy="896112"/>
          </a:xfrm>
          <a:prstGeom prst="rect">
            <a:avLst/>
          </a:prstGeom>
          <a:solidFill>
            <a:srgbClr val="050A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run.py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48640" y="4187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http://localhost:8765  (browser abre automaticamente)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43891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Login: railson.kraefegg  /  AquaH2@2026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</a:rPr>
              <a:t>INTELIGÊNCIA ARTIFICIAL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 Embarcado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B"/>
                </a:solidFill>
              </a:rPr>
              <a:t>Controle autônomo · Anomalias · Preditivo · ESD · Chat contextual em português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33856"/>
            <a:ext cx="2697480" cy="15727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33856"/>
            <a:ext cx="269748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4813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Controladores independentes para Stacks A e B. Ajustam fluxo de água automaticamente para manter temperatura no ponto ótimo (73°C). Parâmetros: kp=0.5 ki=0.01 kd=0.1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9768" y="239572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04080F"/>
          </a:solidFill>
          <a:ln w="889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23957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A7"/>
                </a:solidFill>
              </a:rPr>
              <a:t>±0.6 L/min precisão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1133856"/>
            <a:ext cx="2697480" cy="15727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133856"/>
            <a:ext cx="2697480" cy="457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4813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Janela deslizante de 30 amostras por sinal. Calcula desvio padrão em tempo real. Limiar: Z &gt; 2.8 dispara alerta. Monitora: temperatura, pressão, salinidade, fluxo H₂.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64408" y="239572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04080F"/>
          </a:solidFill>
          <a:ln w="8890">
            <a:solidFill>
              <a:srgbClr val="2D7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23957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7DD2"/>
                </a:solidFill>
              </a:rPr>
              <a:t>96.4% acurácia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133856"/>
            <a:ext cx="2697480" cy="15727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133856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 (slope)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9048" y="14813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Calcula inclinação da tendência de cada variável crítica. ETA até alarme = (limite − valor atual) / slope. Agenda manutenção preventiva automaticamente.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99048" y="239572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04080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239572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ETA em segundos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871216"/>
            <a:ext cx="2697480" cy="15727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71216"/>
            <a:ext cx="26974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Automático SIL-2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32186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Trip em: temperatura &gt;85°C, pressão H₂ &gt;40 bar, LEL &gt;50%, NH₃ &gt;100 ppm. Desliga stacks e síntese NH₃ em &lt;1 segundo. Reset requer supervisor autorizado.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9768" y="413308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04080F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41330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IEC 61511 SIL-2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54680" y="2871216"/>
            <a:ext cx="2697480" cy="15727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2871216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Energética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64408" y="32186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Balanço automático Solar/Eólica/BESS para maximizar produção H₂. Ajusta prioridade BESS quando SoC &lt;30% ou &gt;90%. Curva de potência eólica física implementada.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4408" y="413308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04080F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41330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R$ 142K/mês economia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2871216"/>
            <a:ext cx="2697480" cy="1572768"/>
          </a:xfrm>
          <a:prstGeom prst="rect">
            <a:avLst/>
          </a:prstGeom>
          <a:solidFill>
            <a:srgbClr val="0B1320"/>
          </a:solidFill>
          <a:ln w="8890">
            <a:solidFill>
              <a:srgbClr val="1E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2871216"/>
            <a:ext cx="26974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Contextual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99048" y="32186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Assistente em português com acesso aos dados reais da planta. Respostas para: status, risco, otimização, relatório de turno. Integração opcional com API Claude.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99048" y="4133088"/>
            <a:ext cx="2468880" cy="219456"/>
          </a:xfrm>
          <a:prstGeom prst="roundRect">
            <a:avLst>
              <a:gd name="adj" fmla="val 16667"/>
            </a:avLst>
          </a:prstGeom>
          <a:solidFill>
            <a:srgbClr val="04080F"/>
          </a:solidFill>
          <a:ln w="889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41330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Sem internet necessária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</a:rPr>
              <a:t>REDE IoT &amp; INTEGRAÇÃO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Industrial Híbrida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841248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Camada 4 — Front-end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Browser · HTML5 · Chart.js · SVG P&amp;ID · WebSocket client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11556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060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Chrome / Edge / Firefox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408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Polling HTTP 2s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11556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060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WebSocket bidirecional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4630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4081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10 telas SCADA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26280" y="1828800"/>
            <a:ext cx="0" cy="128016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56816"/>
            <a:ext cx="8412480" cy="841248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956816"/>
            <a:ext cx="54864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011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Camada 3 — Backend 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2494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Python 3.8+ stdlib · run.py único arquivo · SQLite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06240" y="2084832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2029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API REST 12 endpoints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06240" y="2432304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25112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Motor IA (PID + Z-score)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2084832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2029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WebSocket server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2432304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2377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SQLite série temporal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2798064"/>
            <a:ext cx="0" cy="128016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926080"/>
            <a:ext cx="8412480" cy="841248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926080"/>
            <a:ext cx="54864" cy="8412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9809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Camada 2 — Comunicação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2186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MODBUS TCP/RTU · OPC-UA · MQTT · RS-485 · WiFi6 · LoRa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06240" y="3054096"/>
            <a:ext cx="64008" cy="640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25112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Siemens S7 / Allen-Bradley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06240" y="3401568"/>
            <a:ext cx="64008" cy="640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25112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Beckhoff TwinCAT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3054096"/>
            <a:ext cx="64008" cy="640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ESP32 / Raspberry Pi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3401568"/>
            <a:ext cx="64008" cy="640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39 nós IoT na planta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3767328"/>
            <a:ext cx="0" cy="128016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895344"/>
            <a:ext cx="8412480" cy="841248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895344"/>
            <a:ext cx="54864" cy="84124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7DD2"/>
                </a:solidFill>
              </a:rPr>
              <a:t>Camada 1 — Hardware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41879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Sensores · PLCs · Atuadores · Inversores · Válvulas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4023360"/>
            <a:ext cx="64008" cy="64008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25112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PT100 · Pressostatos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06240" y="4370832"/>
            <a:ext cx="64008" cy="64008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5112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Medidores de vazão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0" y="4023360"/>
            <a:ext cx="64008" cy="64008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39684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Detectores H₂ LEL/NH₃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0" y="4370832"/>
            <a:ext cx="64008" cy="64008"/>
          </a:xfrm>
          <a:prstGeom prst="ellipse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9672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Válvulas solenoides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C9A7"/>
                </a:solidFill>
              </a:rPr>
              <a:t>PRESENÇA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Open Source + Website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3200400"/>
          </a:xfrm>
          <a:prstGeom prst="rect">
            <a:avLst/>
          </a:prstGeom>
          <a:solidFill>
            <a:srgbClr val="0B132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148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github.com/kraefegg/1aquah2-scada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3749040" cy="0"/>
          </a:xfrm>
          <a:prstGeom prst="line">
            <a:avLst/>
          </a:prstGeom>
          <a:noFill/>
          <a:ln w="762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7373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Servidor completo (~1.400 linhas)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aquah2_platform.html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Interface SCADA 10 telas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2860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2860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Documentação com badges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603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560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Módulos independentes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2834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API · Hardware · Segurança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1089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108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CI/CD · Issue templates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383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21 testes automatizados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3657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9B"/>
                </a:solidFill>
              </a:rPr>
              <a:t>MIT — uso livre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987552"/>
            <a:ext cx="4114800" cy="3200400"/>
          </a:xfrm>
          <a:prstGeom prst="rect">
            <a:avLst/>
          </a:prstGeom>
          <a:solidFill>
            <a:srgbClr val="0B132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87552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— GitHub Pages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1353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kraefegg.github.io/1aquah2-scada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664208"/>
            <a:ext cx="3749040" cy="0"/>
          </a:xfrm>
          <a:prstGeom prst="line">
            <a:avLst/>
          </a:prstGeom>
          <a:noFill/>
          <a:ln w="7620">
            <a:solidFill>
              <a:srgbClr val="1E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Hospedagem: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7373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GitHub Pages — gratuito + HTTPS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2011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Design: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011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Dark industrial · Syne + DM Sans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2286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Animações: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2860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CSS scroll-reveal · terminal vivo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2560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Seções: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Hero · Stats · Features · Screens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28346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Tecnologia: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2834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HTML5 + CSS3 + JS vanilla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3108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SEO: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31089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Meta tags · OG cards · descrição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33832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Responsive: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26480" y="33832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Mobile + tablet + desktop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Performance: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&lt; 50KB total · zero dependências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5CF6"/>
                </a:solidFill>
              </a:rPr>
              <a:t>STACK TECNOLÓGICO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Linguagens · 1 Sessão · 1 Plataforma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54864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042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Backend · IA · Servidor · Banco de dados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22529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Motor de IA, simulador físico, WebSocket, SQLite, testes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097280"/>
            <a:ext cx="1911096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1064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95%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99616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99616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1554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Front-end · Interface SCADA · WebSocket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1737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Lógica interativa, gráficos Chart.js, polling em tempo real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92240" y="1609344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609344"/>
            <a:ext cx="15087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6184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75%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011680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011680"/>
            <a:ext cx="54864" cy="43891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066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2066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Interface visual · Layout · Animações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224942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10 telas SCADA, site portfólio, animações scroll-reveal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92240" y="2121408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121408"/>
            <a:ext cx="1609344" cy="20116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1305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80%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523744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523744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578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Diagramas técnicos · P&amp;ID · Gráficos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20240" y="27614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Diagrama de processo animado, topologia de rede, rings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92240" y="2633472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2633472"/>
            <a:ext cx="130759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6426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65%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035808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035808"/>
            <a:ext cx="54864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090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2024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Banco de dados · Série temporal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20240" y="32735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Queries SQLite para sensores, alarmes, setpoints, chat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92240" y="3145536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3145536"/>
            <a:ext cx="120700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3154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60%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547872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547872"/>
            <a:ext cx="54864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602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920240" y="3602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Geração de documentos DOCX e PPTX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20240" y="37856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Documentos Word (pré-viabilidade, manual) e apresentações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92240" y="3657600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3657600"/>
            <a:ext cx="110642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6667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55%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059936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059936"/>
            <a:ext cx="54864" cy="438912"/>
          </a:xfrm>
          <a:prstGeom prst="rect">
            <a:avLst/>
          </a:prstGeom>
          <a:solidFill>
            <a:srgbClr val="5A7A9B"/>
          </a:solidFill>
          <a:ln w="12700">
            <a:solidFill>
              <a:srgbClr val="5A7A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92024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Documentação GitHub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920240" y="4297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README, API docs, hardware guide, contributing guide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92240" y="4169664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4169664"/>
            <a:ext cx="905256" cy="201168"/>
          </a:xfrm>
          <a:prstGeom prst="rect">
            <a:avLst/>
          </a:prstGeom>
          <a:solidFill>
            <a:srgbClr val="5A7A9B"/>
          </a:solidFill>
          <a:ln w="12700">
            <a:solidFill>
              <a:srgbClr val="5A7A9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4178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45%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0B1320"/>
          </a:solidFill>
          <a:ln w="7620">
            <a:solidFill>
              <a:srgbClr val="1E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4572000"/>
            <a:ext cx="54864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626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2024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7A9B"/>
                </a:solidFill>
              </a:rPr>
              <a:t>CI/CD · GitHub Actions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920240" y="480974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Pipeline de testes automáticos no push para main branch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492240" y="4681728"/>
            <a:ext cx="2011680" cy="201168"/>
          </a:xfrm>
          <a:prstGeom prst="rect">
            <a:avLst/>
          </a:prstGeom>
          <a:solidFill>
            <a:srgbClr val="04080F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92240" y="4681728"/>
            <a:ext cx="704088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80F"/>
                </a:solidFill>
              </a:rPr>
              <a:t>35%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C9A7"/>
                </a:solidFill>
              </a:rPr>
              <a:t>RESULTADOS ALCANÇADOS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construído nesta sessão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19659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188720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1591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Industrial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AquaH₂ Hub · R$ 380M · H₂ verde + SWRO · TIR 18–24%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41448" y="1024128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024128"/>
            <a:ext cx="19659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1188720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D2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51176" y="1591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Viabilidade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1176" y="19019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Documento UNIDO/ISO · 10 seções · Direcionado FFI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1024128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2856" y="1024128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584" y="1188720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72584" y="1591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SCADA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19019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10 telas · Motor IA real · Python stdlib · Zero deps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84264" y="1024128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84264" y="1024128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93992" y="1188720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93992" y="1591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Completo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93992" y="19019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WebSocket · REST API · SQLite · PID · Anomalias · ESD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596896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596896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2761488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" y="3163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 Testes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" y="34747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Simulador · IA · Banco · PID · Integração completa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41448" y="2596896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41448" y="2596896"/>
            <a:ext cx="196596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1176" y="2761488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51176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551176" y="3163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GitHub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51176" y="34747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Open source · README profissional · CI/CD · Issues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62856" y="2596896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62856" y="2596896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72584" y="2761488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672584" y="3163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ao Vivo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72584" y="34747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GitHub Pages · HTTPS gratuito · Portfolio público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684264" y="2596896"/>
            <a:ext cx="1965960" cy="1389888"/>
          </a:xfrm>
          <a:prstGeom prst="rect">
            <a:avLst/>
          </a:prstGeom>
          <a:solidFill>
            <a:srgbClr val="0B1320"/>
          </a:solidFill>
          <a:ln w="1524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84264" y="2596896"/>
            <a:ext cx="19659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93992" y="2761488"/>
            <a:ext cx="329184" cy="329184"/>
          </a:xfrm>
          <a:prstGeom prst="rect">
            <a:avLst/>
          </a:prstGeom>
          <a:solidFill>
            <a:srgbClr val="04080F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93992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DD2"/>
                </a:solidFill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93992" y="3163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Completo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93992" y="34747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9B"/>
                </a:solidFill>
              </a:rPr>
              <a:t>Instalação · Operação · API · Hardware · Segurança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07A65"/>
          </a:solidFill>
          <a:ln w="12700">
            <a:solidFill>
              <a:srgbClr val="00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500" kern="0" dirty="0">
                <a:solidFill>
                  <a:srgbClr val="04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KRAEFEGG M.O.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320"/>
                </a:solidFill>
              </a:rPr>
              <a:t>Engineering Development &amp; Project Finance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320"/>
                </a:solidFill>
              </a:rPr>
              <a:t>Developer: Railson  ·  Nordeste, Brasil  · 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481328"/>
            <a:ext cx="3657600" cy="0"/>
          </a:xfrm>
          <a:prstGeom prst="line">
            <a:avLst/>
          </a:prstGeom>
          <a:noFill/>
          <a:ln w="10160">
            <a:solidFill>
              <a:srgbClr val="0B1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80F"/>
                </a:solidFill>
              </a:rPr>
              <a:t>Portfólio 2026 · Open Source · Disponível para investidores e parceiros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2377440" cy="1280160"/>
          </a:xfrm>
          <a:prstGeom prst="rect">
            <a:avLst/>
          </a:prstGeom>
          <a:solidFill>
            <a:srgbClr val="0B1320"/>
          </a:solidFill>
          <a:ln w="1524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06040"/>
            <a:ext cx="23774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7249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GitHub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0175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github.com/kraefegg/1aquah2-scada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0" y="2606040"/>
            <a:ext cx="2377440" cy="1280160"/>
          </a:xfrm>
          <a:prstGeom prst="rect">
            <a:avLst/>
          </a:prstGeom>
          <a:solidFill>
            <a:srgbClr val="0B1320"/>
          </a:solidFill>
          <a:ln w="15240">
            <a:solidFill>
              <a:srgbClr val="2D7D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606040"/>
            <a:ext cx="23774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7249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</a:rPr>
              <a:t>Website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3008" y="30175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kraefegg.github.io/1aquah2-scada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377440" cy="1280160"/>
          </a:xfrm>
          <a:prstGeom prst="rect">
            <a:avLst/>
          </a:prstGeom>
          <a:solidFill>
            <a:srgbClr val="0B132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606040"/>
            <a:ext cx="2377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72491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Email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30175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kraefegg.mos3@gmail.com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85800"/>
          </a:xfrm>
          <a:prstGeom prst="rect">
            <a:avLst/>
          </a:prstGeom>
          <a:solidFill>
            <a:srgbClr val="0B132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conceito ao código — do código ao mercado. Kraefegg M.O."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B"/>
                </a:solidFill>
              </a:rPr>
              <a:t>Kraefegg M.O.  ·  Developer: Railson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Kraefegg M.O. — Portfólio Completo 2026</dc:title>
  <dc:subject>PptxGenJS Presentation</dc:subject>
  <dc:creator>Kraefegg M.O. — Developer Railson</dc:creator>
  <cp:lastModifiedBy>Kraefegg M.O. — Developer Railson</cp:lastModifiedBy>
  <cp:revision>1</cp:revision>
  <dcterms:created xsi:type="dcterms:W3CDTF">2026-03-23T03:43:38Z</dcterms:created>
  <dcterms:modified xsi:type="dcterms:W3CDTF">2026-03-23T03:43:38Z</dcterms:modified>
</cp:coreProperties>
</file>